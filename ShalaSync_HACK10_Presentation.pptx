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0" y="45720"/>
            <a:ext cx="73152" cy="6812280"/>
          </a:xfrm>
          <a:prstGeom prst="rect">
            <a:avLst/>
          </a:prstGeom>
          <a:ln/>
        </p:spPr>
      </p:sp>
      <p:sp>
        <p:nvSpPr>
          <p:cNvPr id="12" name="Shape 10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743200"/>
            <a:ext cx="4572000" cy="4572000"/>
          </a:xfrm>
          <a:prstGeom prst="ellipse">
            <a:avLst/>
          </a:prstGeom>
          <a:solidFill>
            <a:srgbClr val="DB2777">
              <a:alpha val="8000"/>
            </a:srgbClr>
          </a:solidFill>
          <a:ln w="6350">
            <a:solidFill>
              <a:srgbClr val="DB2777">
                <a:alpha val="20000"/>
              </a:srgbClr>
            </a:solidFill>
            <a:prstDash val="solid"/>
          </a:ln>
        </p:spPr>
      </p:sp>
      <p:pic>
        <p:nvPicPr>
          <p:cNvPr id="14" name="Image 0" descr="C:\Users\Harsh\Desktop\Intership&amp;Project\Ayu Hack\smart-timetable\public\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74320"/>
            <a:ext cx="1005840" cy="1005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4048" y="13533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Palanpur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1755648"/>
            <a:ext cx="4114800" cy="0"/>
          </a:xfrm>
          <a:prstGeom prst="line">
            <a:avLst/>
          </a:prstGeom>
          <a:noFill/>
          <a:ln w="8890">
            <a:solidFill>
              <a:srgbClr val="1E2A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" y="1874520"/>
            <a:ext cx="1463040" cy="384048"/>
          </a:xfrm>
          <a:prstGeom prst="roundRect">
            <a:avLst>
              <a:gd name="adj" fmla="val 19048"/>
            </a:avLst>
          </a:prstGeom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18745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HACK10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938528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6400" dirty="0"/>
          </a:p>
        </p:txBody>
      </p:sp>
      <p:sp>
        <p:nvSpPr>
          <p:cNvPr id="21" name="Text 18"/>
          <p:cNvSpPr/>
          <p:nvPr/>
        </p:nvSpPr>
        <p:spPr>
          <a:xfrm>
            <a:off x="384048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800" kern="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TABLE</a:t>
            </a:r>
            <a:endParaRPr lang="en-US" sz="6400" dirty="0"/>
          </a:p>
        </p:txBody>
      </p:sp>
      <p:sp>
        <p:nvSpPr>
          <p:cNvPr id="22" name="Text 19"/>
          <p:cNvSpPr/>
          <p:nvPr/>
        </p:nvSpPr>
        <p:spPr>
          <a:xfrm>
            <a:off x="384048" y="3931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8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400" dirty="0"/>
          </a:p>
        </p:txBody>
      </p:sp>
      <p:sp>
        <p:nvSpPr>
          <p:cNvPr id="23" name="Text 20"/>
          <p:cNvSpPr/>
          <p:nvPr/>
        </p:nvSpPr>
        <p:spPr>
          <a:xfrm>
            <a:off x="384048" y="4892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Personalized &amp; Real-Time Timetable Platform for Students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84048" y="6217920"/>
            <a:ext cx="11430000" cy="0"/>
          </a:xfrm>
          <a:prstGeom prst="line">
            <a:avLst/>
          </a:prstGeom>
          <a:noFill/>
          <a:ln w="8890">
            <a:solidFill>
              <a:srgbClr val="1E2A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6291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AYU HACK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6291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 TABLE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9728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UNDERSTANDING  →  SOLUTION  →  FLOW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" y="841248"/>
            <a:ext cx="3474720" cy="2423160"/>
          </a:xfrm>
          <a:prstGeom prst="roundRect">
            <a:avLst>
              <a:gd name="adj" fmla="val 4528"/>
            </a:avLst>
          </a:prstGeom>
          <a:solidFill>
            <a:srgbClr val="141B2D"/>
          </a:solidFill>
          <a:ln w="10160">
            <a:solidFill>
              <a:srgbClr val="DB277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868680"/>
            <a:ext cx="36576" cy="320040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429768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14996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lecture &amp; classroom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for today's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2121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lecture changes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432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exact batch timetable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 details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58768" y="841248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141B2D"/>
          </a:solidFill>
          <a:ln w="1016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868680"/>
            <a:ext cx="36576" cy="320040"/>
          </a:xfrm>
          <a:prstGeom prst="rect">
            <a:avLst/>
          </a:prstGeom>
          <a:ln/>
        </p:spPr>
      </p:sp>
      <p:sp>
        <p:nvSpPr>
          <p:cNvPr id="24" name="Text 22"/>
          <p:cNvSpPr/>
          <p:nvPr/>
        </p:nvSpPr>
        <p:spPr>
          <a:xfrm>
            <a:off x="4087368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UNDERSTANDING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05072" y="1207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 is: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77640" y="1499616"/>
            <a:ext cx="3401568" cy="530352"/>
          </a:xfrm>
          <a:prstGeom prst="roundRect">
            <a:avLst>
              <a:gd name="adj" fmla="val 13793"/>
            </a:avLst>
          </a:prstGeom>
          <a:solidFill>
            <a:srgbClr val="7C3AED">
              <a:alpha val="3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1499616"/>
            <a:ext cx="3401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"Right info · Right time · Right place"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05072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know each student's: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041648" y="2377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41648" y="2651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→  Semester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41648" y="2926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→  Batch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35240" y="841248"/>
            <a:ext cx="4297680" cy="2423160"/>
          </a:xfrm>
          <a:prstGeom prst="roundRect">
            <a:avLst>
              <a:gd name="adj" fmla="val 4528"/>
            </a:avLst>
          </a:prstGeom>
          <a:solidFill>
            <a:srgbClr val="141B2D"/>
          </a:solidFill>
          <a:ln w="1016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54112" y="868680"/>
            <a:ext cx="36576" cy="320040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786384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54112" y="1188720"/>
            <a:ext cx="4041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 TABLE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90688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&amp; Next Lecture auto-detected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90688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· Professor · Room displayed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90688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&amp; Weekly timetable view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90688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updates → student device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90688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interface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8600" y="3127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FLOW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3401568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Enrollment No.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60704" y="3730752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849624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849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Identification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60704" y="4178808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297680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+ Sem + Class + Batch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60704" y="4626864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" y="4745736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Retrieved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60704" y="5074920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5193792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5B21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5193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Date &amp; Time Checked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60704" y="5522976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5641848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FFD1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5641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Next Lecture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60704" y="5971032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6089904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6089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/ Weekly Timetable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60704" y="6419088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8600" y="6537960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6537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&amp; Events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60704" y="6867144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600" y="6986016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6986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Student Gets Correct Info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784080" y="3127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FLOW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784080" y="3401568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8408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0616184" y="3730752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84080" y="3849624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784080" y="3849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 / Professors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0616184" y="4178808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84080" y="4297680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7840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Timetable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616184" y="4626864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784080" y="4745736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FFD16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84080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Live Change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616184" y="5074920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84080" y="5193792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06B6D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84080" y="5193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10616184" y="5522976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84080" y="5641848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84080" y="5641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Broadcast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616184" y="5971032"/>
            <a:ext cx="164592" cy="12801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784080" y="6089904"/>
            <a:ext cx="1828800" cy="320040"/>
          </a:xfrm>
          <a:prstGeom prst="roundRect">
            <a:avLst>
              <a:gd name="adj" fmla="val 22857"/>
            </a:avLst>
          </a:prstGeom>
          <a:ln w="1016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784080" y="6089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Devices (Live)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331720" y="4389120"/>
            <a:ext cx="7178040" cy="2331720"/>
          </a:xfrm>
          <a:prstGeom prst="roundRect">
            <a:avLst>
              <a:gd name="adj" fmla="val 4706"/>
            </a:avLst>
          </a:prstGeom>
          <a:solidFill>
            <a:srgbClr val="141B2D"/>
          </a:solidFill>
          <a:ln w="10160">
            <a:solidFill>
              <a:srgbClr val="1E2A42">
                <a:alpha val="7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377440" y="4434840"/>
            <a:ext cx="708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468880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3273552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4078224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4882896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5687568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RLS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6492240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7296912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8101584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8906256" y="48006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2514600" y="5257800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14600" y="52578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703320" y="5257800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6B6D4">
              <a:alpha val="15000"/>
            </a:srgbClr>
          </a:solidFill>
          <a:ln w="762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703320" y="52578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892040" y="5257800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15000"/>
            </a:srgbClr>
          </a:solidFill>
          <a:ln w="762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92040" y="52578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080760" y="5257800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10B981">
              <a:alpha val="15000"/>
            </a:srgbClr>
          </a:solidFill>
          <a:ln w="762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080760" y="52578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269480" y="5257800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6B6D4">
              <a:alpha val="15000"/>
            </a:srgbClr>
          </a:solidFill>
          <a:ln w="762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69480" y="52578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458200" y="5257800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15000"/>
            </a:srgbClr>
          </a:solidFill>
          <a:ln w="762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458200" y="52578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320040" y="109728"/>
            <a:ext cx="11521440" cy="566928"/>
          </a:xfrm>
          <a:prstGeom prst="rect">
            <a:avLst/>
          </a:prstGeom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9728"/>
            <a:ext cx="11521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 &amp;  UNIQUE FEATURES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4114800" cy="5852160"/>
          </a:xfrm>
          <a:prstGeom prst="roundRect">
            <a:avLst>
              <a:gd name="adj" fmla="val 2667"/>
            </a:avLst>
          </a:prstGeom>
          <a:solidFill>
            <a:srgbClr val="141B2D"/>
          </a:solidFill>
          <a:ln w="1016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841248"/>
            <a:ext cx="36576" cy="320040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429768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1207008"/>
            <a:ext cx="3895344" cy="310896"/>
          </a:xfrm>
          <a:prstGeom prst="roundRect">
            <a:avLst>
              <a:gd name="adj" fmla="val 17647"/>
            </a:avLst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2070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155448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1819656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08483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2350008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CSS / Tailwind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" y="2743200"/>
            <a:ext cx="3895344" cy="310896"/>
          </a:xfrm>
          <a:prstGeom prst="roundRect">
            <a:avLst>
              <a:gd name="adj" fmla="val 17647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432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Backend / Database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09067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355848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(SSR)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" y="362102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388620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" y="4279392"/>
            <a:ext cx="3895344" cy="310896"/>
          </a:xfrm>
          <a:prstGeom prst="roundRect">
            <a:avLst>
              <a:gd name="adj" fmla="val 17647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2793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462686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(Production)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489204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(Source Control)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" y="5285232"/>
            <a:ext cx="3895344" cy="310896"/>
          </a:xfrm>
          <a:prstGeom prst="roundRect">
            <a:avLst>
              <a:gd name="adj" fmla="val 17647"/>
            </a:avLst>
          </a:prstGeom>
          <a:solidFill>
            <a:srgbClr val="FFD166">
              <a:alpha val="18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52852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Dev Tools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563270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589788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/ npm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" y="6163056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date-fns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62272" y="804672"/>
            <a:ext cx="7406640" cy="5852160"/>
          </a:xfrm>
          <a:prstGeom prst="roundRect">
            <a:avLst>
              <a:gd name="adj" fmla="val 1875"/>
            </a:avLst>
          </a:prstGeom>
          <a:solidFill>
            <a:srgbClr val="141B2D"/>
          </a:solidFill>
          <a:ln w="1016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0288" y="841248"/>
            <a:ext cx="36576" cy="320040"/>
          </a:xfrm>
          <a:prstGeom prst="rect">
            <a:avLst/>
          </a:prstGeom>
          <a:ln/>
        </p:spPr>
      </p:sp>
      <p:sp>
        <p:nvSpPr>
          <p:cNvPr id="39" name="Text 37"/>
          <p:cNvSpPr/>
          <p:nvPr/>
        </p:nvSpPr>
        <p:spPr>
          <a:xfrm>
            <a:off x="4700016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90288" y="1225296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212080" y="1335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Lecture Detection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27448" y="1719072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active lecture from current date/time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27448" y="2322576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74736" y="1225296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84464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⏭️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796528" y="1335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 Preview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311896" y="1719072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upcoming subject, professor &amp; room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11896" y="2322576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90288" y="2560320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0016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212080" y="2670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727448" y="3054096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changes push instantly to connected students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27448" y="3657600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74736" y="2560320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84464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8796528" y="2670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Personalization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311896" y="3054096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 → Dept → Sem → Class → Batch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311896" y="3657600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90288" y="3895344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0016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212080" y="4005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Overrides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727448" y="438912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changes for a specific date only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727448" y="4992624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74736" y="3895344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8446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8796528" y="4005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Announcements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311896" y="438912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specific Dept / Sem / Class / Batch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311896" y="4992624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90288" y="5230368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00016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5212080" y="53400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UI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727448" y="5724144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mobile, tablet, laptop, desktop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727448" y="6327648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74736" y="5230368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0F1629"/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84464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8796528" y="53400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Portal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8311896" y="5724144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RLS — protected admin routes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311896" y="6327648"/>
            <a:ext cx="31089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320040" y="109728"/>
            <a:ext cx="11521440" cy="566928"/>
          </a:xfrm>
          <a:prstGeom prst="rect">
            <a:avLst/>
          </a:prstGeom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9728"/>
            <a:ext cx="11521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&amp;  BENEFITS  —  WHO BENEFITS FROM OUR SOLUTION?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2724912" cy="2359152"/>
          </a:xfrm>
          <a:prstGeom prst="roundRect">
            <a:avLst>
              <a:gd name="adj" fmla="val 4651"/>
            </a:avLst>
          </a:prstGeom>
          <a:solidFill>
            <a:srgbClr val="141B2D"/>
          </a:solidFill>
          <a:ln w="1016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877824"/>
            <a:ext cx="2578608" cy="475488"/>
          </a:xfrm>
          <a:prstGeom prst="roundRect">
            <a:avLst>
              <a:gd name="adj" fmla="val 15385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877824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 STUDENTS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14264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find current lecture &amp; classroom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" y="17556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professor for each class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" y="20848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today's &amp; weekly timetable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" y="24140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live timetable changes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" y="274320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confusion — zero guesswork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90672" y="804672"/>
            <a:ext cx="2724912" cy="2359152"/>
          </a:xfrm>
          <a:prstGeom prst="roundRect">
            <a:avLst>
              <a:gd name="adj" fmla="val 4651"/>
            </a:avLst>
          </a:prstGeom>
          <a:solidFill>
            <a:srgbClr val="141B2D"/>
          </a:solidFill>
          <a:ln w="1016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3824" y="877824"/>
            <a:ext cx="2578608" cy="475488"/>
          </a:xfrm>
          <a:prstGeom prst="roundRect">
            <a:avLst>
              <a:gd name="adj" fmla="val 15385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877824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FACULTY / PROFESSORS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27832" y="14264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room/professor changes instantly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27832" y="17556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special lectures &amp; events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27832" y="20848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dependency on manual communication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27832" y="24140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timetable information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0176" y="804672"/>
            <a:ext cx="2724912" cy="2359152"/>
          </a:xfrm>
          <a:prstGeom prst="roundRect">
            <a:avLst>
              <a:gd name="adj" fmla="val 4651"/>
            </a:avLst>
          </a:prstGeom>
          <a:solidFill>
            <a:srgbClr val="141B2D"/>
          </a:solidFill>
          <a:ln w="1016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3328" y="877824"/>
            <a:ext cx="2578608" cy="475488"/>
          </a:xfrm>
          <a:prstGeom prst="roundRect">
            <a:avLst>
              <a:gd name="adj" fmla="val 15385"/>
            </a:avLst>
          </a:prstGeom>
          <a:solidFill>
            <a:srgbClr val="FFD166">
              <a:alpha val="2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9904" y="877824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COLLEGE / ADMIN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17336" y="14264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timetable management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17336" y="17556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students, professors, rooms, subjects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17336" y="20848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for all departments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17336" y="24140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change/audit history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69680" y="804672"/>
            <a:ext cx="2724912" cy="2359152"/>
          </a:xfrm>
          <a:prstGeom prst="roundRect">
            <a:avLst>
              <a:gd name="adj" fmla="val 4651"/>
            </a:avLst>
          </a:prstGeom>
          <a:solidFill>
            <a:srgbClr val="141B2D"/>
          </a:solidFill>
          <a:ln w="1016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42832" y="877824"/>
            <a:ext cx="2578608" cy="475488"/>
          </a:xfrm>
          <a:prstGeom prst="roundRect">
            <a:avLst>
              <a:gd name="adj" fmla="val 15385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79408" y="877824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CAMPUS SYSTEM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06840" y="142646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paper/WhatsApp communication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006840" y="17556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digital information delivery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06840" y="20848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Scalable: multiple depts &amp; semesters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06840" y="24140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full campus platform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1168" y="3273552"/>
            <a:ext cx="11777472" cy="2377440"/>
          </a:xfrm>
          <a:prstGeom prst="roundRect">
            <a:avLst>
              <a:gd name="adj" fmla="val 4615"/>
            </a:avLst>
          </a:prstGeom>
          <a:solidFill>
            <a:srgbClr val="141B2D"/>
          </a:solidFill>
          <a:ln w="10160">
            <a:solidFill>
              <a:srgbClr val="1E2A42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310128"/>
            <a:ext cx="36576" cy="320040"/>
          </a:xfrm>
          <a:prstGeom prst="rect">
            <a:avLst/>
          </a:prstGeom>
          <a:ln/>
        </p:spPr>
      </p:sp>
      <p:sp>
        <p:nvSpPr>
          <p:cNvPr id="44" name="Text 42"/>
          <p:cNvSpPr/>
          <p:nvPr/>
        </p:nvSpPr>
        <p:spPr>
          <a:xfrm>
            <a:off x="429768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" y="3639312"/>
            <a:ext cx="2560320" cy="1810512"/>
          </a:xfrm>
          <a:prstGeom prst="roundRect">
            <a:avLst>
              <a:gd name="adj" fmla="val 5051"/>
            </a:avLst>
          </a:prstGeom>
          <a:solidFill>
            <a:srgbClr val="DB2777">
              <a:alpha val="10000"/>
            </a:srgbClr>
          </a:solidFill>
          <a:ln w="1016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6576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2336" y="3950208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Searching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02336" y="429768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Multiple Sources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02336" y="464515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Ask Classmates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02336" y="4992624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Confusion &amp; Delay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962656" y="4224528"/>
            <a:ext cx="640080" cy="502920"/>
          </a:xfrm>
          <a:prstGeom prst="rightArrow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03320" y="3639312"/>
            <a:ext cx="4572000" cy="1810512"/>
          </a:xfrm>
          <a:prstGeom prst="roundRect">
            <a:avLst>
              <a:gd name="adj" fmla="val 6061"/>
            </a:avLst>
          </a:prstGeom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0" y="3730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 TABLE DASHBOARD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49040" y="416966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  ·  📱 Mobile-First  ·  🎯 Personalized  ·  🔒 Secure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794760" y="44988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 →  Instant Updates  →  Zero Manual Work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794760" y="4773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GEC Palanpur  ·  4 Departments  ·  All Semesters &amp; Batches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840480" y="50474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· Extensible · Production-Ready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385048" y="4224528"/>
            <a:ext cx="640080" cy="502920"/>
          </a:xfrm>
          <a:prstGeom prst="rightArrow">
            <a:avLst/>
          </a:prstGeom>
          <a:ln w="1270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25712" y="3639312"/>
            <a:ext cx="2633472" cy="1810512"/>
          </a:xfrm>
          <a:prstGeom prst="roundRect">
            <a:avLst>
              <a:gd name="adj" fmla="val 5051"/>
            </a:avLst>
          </a:prstGeom>
          <a:solidFill>
            <a:srgbClr val="10B981">
              <a:alpha val="1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80576" y="36576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217152" y="39502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Central Platform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217152" y="42976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Personalized Info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217152" y="46451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Updates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217152" y="4992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Communication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20040" y="6153912"/>
            <a:ext cx="11521440" cy="0"/>
          </a:xfrm>
          <a:prstGeom prst="line">
            <a:avLst/>
          </a:prstGeom>
          <a:noFill/>
          <a:ln w="7620">
            <a:solidFill>
              <a:srgbClr val="1E2A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AYU HACK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943600" y="6217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 TABLE DASHBOARD  ·  HACK10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1E2A4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320040" y="109728"/>
            <a:ext cx="11521440" cy="566928"/>
          </a:xfrm>
          <a:prstGeom prst="rect">
            <a:avLst/>
          </a:prstGeom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9728"/>
            <a:ext cx="11521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/  UX  —  SMART TIME TABLE DASHBOARD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3108960" cy="5212080"/>
          </a:xfrm>
          <a:prstGeom prst="roundRect">
            <a:avLst>
              <a:gd name="adj" fmla="val 5294"/>
            </a:avLst>
          </a:prstGeom>
          <a:solidFill>
            <a:srgbClr val="080C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3108960" cy="201168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" y="83210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pic>
        <p:nvPicPr>
          <p:cNvPr id="16" name="Image 0" descr="C:\Users\Harsh\Desktop\Intership&amp;Project\Ayu Hack\smart-timetable\public\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89888" y="1124712"/>
            <a:ext cx="731520" cy="7315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38328" y="19019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Engineering College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Palanpur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" y="24048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 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" y="3044952"/>
            <a:ext cx="2560320" cy="0"/>
          </a:xfrm>
          <a:prstGeom prst="line">
            <a:avLst/>
          </a:prstGeom>
          <a:noFill/>
          <a:ln w="6350">
            <a:solidFill>
              <a:srgbClr val="1E2A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3163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84048" y="338328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41B2D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3383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240010101001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84048" y="3840480"/>
            <a:ext cx="2743200" cy="365760"/>
          </a:xfrm>
          <a:prstGeom prst="roundRect">
            <a:avLst>
              <a:gd name="adj" fmla="val 20000"/>
            </a:avLst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My Timetable →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84048" y="4352544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141B2D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43525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097280" y="4352544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141B2D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43525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1810512" y="4352544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141B2D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10512" y="43525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523744" y="4352544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141B2D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23744" y="43525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01168" y="6071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1: Student Enrollment Portal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493008" y="804672"/>
            <a:ext cx="3108960" cy="5212080"/>
          </a:xfrm>
          <a:prstGeom prst="roundRect">
            <a:avLst>
              <a:gd name="adj" fmla="val 5294"/>
            </a:avLst>
          </a:prstGeom>
          <a:solidFill>
            <a:srgbClr val="080C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493008" y="804672"/>
            <a:ext cx="3108960" cy="201168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6" name="Text 33"/>
          <p:cNvSpPr/>
          <p:nvPr/>
        </p:nvSpPr>
        <p:spPr>
          <a:xfrm>
            <a:off x="3602736" y="83210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053328" y="83210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493008" y="1005840"/>
            <a:ext cx="3108960" cy="475488"/>
          </a:xfrm>
          <a:prstGeom prst="rect">
            <a:avLst/>
          </a:prstGeom>
          <a:solidFill>
            <a:srgbClr val="0F1629"/>
          </a:solidFill>
          <a:ln w="6350">
            <a:solidFill>
              <a:srgbClr val="1E2A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30168" y="10424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Patel  •  CE Sem 1  •  A-C1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630168" y="12252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240010101001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566160" y="15179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3566160" y="1737360"/>
            <a:ext cx="93268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53712" y="15179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541264" y="1517904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🔴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3630168" y="1828800"/>
            <a:ext cx="2834640" cy="1389888"/>
          </a:xfrm>
          <a:prstGeom prst="roundRect">
            <a:avLst>
              <a:gd name="adj" fmla="val 6579"/>
            </a:avLst>
          </a:prstGeom>
          <a:ln w="7620">
            <a:solidFill>
              <a:srgbClr val="A78BF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694176" y="1883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CURRENT LECTURE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3694176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694176" y="23957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A. Mehta  |  Room: 3101  |  10:30–11:30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694176" y="2615184"/>
            <a:ext cx="2560320" cy="91440"/>
          </a:xfrm>
          <a:prstGeom prst="roundRect">
            <a:avLst>
              <a:gd name="adj" fmla="val 40000"/>
            </a:avLst>
          </a:prstGeom>
          <a:solidFill>
            <a:srgbClr val="1E2A42"/>
          </a:solidFill>
          <a:ln/>
        </p:spPr>
      </p:sp>
      <p:sp>
        <p:nvSpPr>
          <p:cNvPr id="50" name="Shape 47"/>
          <p:cNvSpPr/>
          <p:nvPr/>
        </p:nvSpPr>
        <p:spPr>
          <a:xfrm>
            <a:off x="3694176" y="2615184"/>
            <a:ext cx="1371600" cy="9144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51" name="Text 48"/>
          <p:cNvSpPr/>
          <p:nvPr/>
        </p:nvSpPr>
        <p:spPr>
          <a:xfrm>
            <a:off x="3694176" y="27432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min remaining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852160" y="27432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3630168" y="331012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694176" y="3383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Algorithms  |  11:30  |  Room 3102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3694176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B. Shah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630168" y="405993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694176" y="40965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279392" y="40965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4279392" y="42793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3101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6126480" y="416966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3630168" y="456285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3810">
            <a:solidFill>
              <a:srgbClr val="1E2A4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694176" y="459943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279392" y="45994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4279392" y="478231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3102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630168" y="506577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3810">
            <a:solidFill>
              <a:srgbClr val="1E2A4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694176" y="51023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4279392" y="51023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4279392" y="52852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3101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493008" y="6071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2: Student Dashboard — Current &amp; Next Lecture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6784848" y="804672"/>
            <a:ext cx="5138928" cy="5212080"/>
          </a:xfrm>
          <a:prstGeom prst="roundRect">
            <a:avLst>
              <a:gd name="adj" fmla="val 3203"/>
            </a:avLst>
          </a:prstGeom>
          <a:solidFill>
            <a:srgbClr val="080C1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784848" y="804672"/>
            <a:ext cx="5138928" cy="384048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72" name="Text 69"/>
          <p:cNvSpPr/>
          <p:nvPr/>
        </p:nvSpPr>
        <p:spPr>
          <a:xfrm>
            <a:off x="6967728" y="8778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ShalaSync Admin Portal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6784848" y="1188720"/>
            <a:ext cx="1280160" cy="4828032"/>
          </a:xfrm>
          <a:prstGeom prst="rect">
            <a:avLst/>
          </a:prstGeom>
          <a:solidFill>
            <a:srgbClr val="141B2D"/>
          </a:solidFill>
          <a:ln/>
        </p:spPr>
      </p:sp>
      <p:sp>
        <p:nvSpPr>
          <p:cNvPr id="74" name="Shape 71"/>
          <p:cNvSpPr/>
          <p:nvPr/>
        </p:nvSpPr>
        <p:spPr>
          <a:xfrm>
            <a:off x="6784848" y="1280160"/>
            <a:ext cx="1280160" cy="402336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75" name="Text 72"/>
          <p:cNvSpPr/>
          <p:nvPr/>
        </p:nvSpPr>
        <p:spPr>
          <a:xfrm>
            <a:off x="6894576" y="12984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6894576" y="18105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Students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894576" y="23225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Professors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6894576" y="28346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Subjects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6894576" y="33467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Rooms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6894576" y="38587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Timetable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6894576" y="4370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Live Updates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894576" y="48828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Events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8202168" y="128016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202168" y="1316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8202168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8202168" y="17373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00" dirty="0"/>
          </a:p>
        </p:txBody>
      </p:sp>
      <p:sp>
        <p:nvSpPr>
          <p:cNvPr id="87" name="Shape 84"/>
          <p:cNvSpPr/>
          <p:nvPr/>
        </p:nvSpPr>
        <p:spPr>
          <a:xfrm>
            <a:off x="9098280" y="128016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098280" y="1316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9098280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90" name="Text 87"/>
          <p:cNvSpPr/>
          <p:nvPr/>
        </p:nvSpPr>
        <p:spPr>
          <a:xfrm>
            <a:off x="9098280" y="17373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9994392" y="128016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9994392" y="1316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100" dirty="0"/>
          </a:p>
        </p:txBody>
      </p:sp>
      <p:sp>
        <p:nvSpPr>
          <p:cNvPr id="93" name="Text 90"/>
          <p:cNvSpPr/>
          <p:nvPr/>
        </p:nvSpPr>
        <p:spPr>
          <a:xfrm>
            <a:off x="9994392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94" name="Text 91"/>
          <p:cNvSpPr/>
          <p:nvPr/>
        </p:nvSpPr>
        <p:spPr>
          <a:xfrm>
            <a:off x="9994392" y="17373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700" dirty="0"/>
          </a:p>
        </p:txBody>
      </p:sp>
      <p:sp>
        <p:nvSpPr>
          <p:cNvPr id="95" name="Shape 92"/>
          <p:cNvSpPr/>
          <p:nvPr/>
        </p:nvSpPr>
        <p:spPr>
          <a:xfrm>
            <a:off x="10890504" y="128016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0F1629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10890504" y="1316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100" dirty="0"/>
          </a:p>
        </p:txBody>
      </p:sp>
      <p:sp>
        <p:nvSpPr>
          <p:cNvPr id="97" name="Text 94"/>
          <p:cNvSpPr/>
          <p:nvPr/>
        </p:nvSpPr>
        <p:spPr>
          <a:xfrm>
            <a:off x="10890504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98" name="Text 95"/>
          <p:cNvSpPr/>
          <p:nvPr/>
        </p:nvSpPr>
        <p:spPr>
          <a:xfrm>
            <a:off x="10890504" y="17373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8202168" y="2029968"/>
            <a:ext cx="3547872" cy="2194560"/>
          </a:xfrm>
          <a:prstGeom prst="roundRect">
            <a:avLst>
              <a:gd name="adj" fmla="val 3333"/>
            </a:avLst>
          </a:prstGeom>
          <a:solidFill>
            <a:srgbClr val="0F1629"/>
          </a:solidFill>
          <a:ln w="5080">
            <a:solidFill>
              <a:srgbClr val="1E2A42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293608" y="20848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Timetable Overview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8266176" y="23408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102" name="Shape 99"/>
          <p:cNvSpPr/>
          <p:nvPr/>
        </p:nvSpPr>
        <p:spPr>
          <a:xfrm>
            <a:off x="8275320" y="2542032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7C3AED">
              <a:alpha val="1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275320" y="2542032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700" dirty="0"/>
          </a:p>
        </p:txBody>
      </p:sp>
      <p:sp>
        <p:nvSpPr>
          <p:cNvPr id="104" name="Shape 101"/>
          <p:cNvSpPr/>
          <p:nvPr/>
        </p:nvSpPr>
        <p:spPr>
          <a:xfrm>
            <a:off x="8275320" y="2944368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06B6D4">
              <a:alpha val="1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8275320" y="294436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700" dirty="0"/>
          </a:p>
        </p:txBody>
      </p:sp>
      <p:sp>
        <p:nvSpPr>
          <p:cNvPr id="106" name="Shape 103"/>
          <p:cNvSpPr/>
          <p:nvPr/>
        </p:nvSpPr>
        <p:spPr>
          <a:xfrm>
            <a:off x="8275320" y="3346704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FFD166">
              <a:alpha val="18000"/>
            </a:srgbClr>
          </a:solidFill>
          <a:ln w="3810">
            <a:solidFill>
              <a:srgbClr val="FFD166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8275320" y="334670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700" dirty="0"/>
          </a:p>
        </p:txBody>
      </p:sp>
      <p:sp>
        <p:nvSpPr>
          <p:cNvPr id="108" name="Shape 105"/>
          <p:cNvSpPr/>
          <p:nvPr/>
        </p:nvSpPr>
        <p:spPr>
          <a:xfrm>
            <a:off x="8275320" y="3749040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DB2777">
              <a:alpha val="18000"/>
            </a:srgbClr>
          </a:solidFill>
          <a:ln w="3810">
            <a:solidFill>
              <a:srgbClr val="DB2777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8275320" y="3749040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</a:t>
            </a:r>
            <a:endParaRPr lang="en-US" sz="700" dirty="0"/>
          </a:p>
        </p:txBody>
      </p:sp>
      <p:sp>
        <p:nvSpPr>
          <p:cNvPr id="110" name="Text 107"/>
          <p:cNvSpPr/>
          <p:nvPr/>
        </p:nvSpPr>
        <p:spPr>
          <a:xfrm>
            <a:off x="8924544" y="23408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111" name="Shape 108"/>
          <p:cNvSpPr/>
          <p:nvPr/>
        </p:nvSpPr>
        <p:spPr>
          <a:xfrm>
            <a:off x="8933688" y="2542032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06B6D4">
              <a:alpha val="1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8933688" y="2542032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700" dirty="0"/>
          </a:p>
        </p:txBody>
      </p:sp>
      <p:sp>
        <p:nvSpPr>
          <p:cNvPr id="113" name="Shape 110"/>
          <p:cNvSpPr/>
          <p:nvPr/>
        </p:nvSpPr>
        <p:spPr>
          <a:xfrm>
            <a:off x="8933688" y="2944368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FFD166">
              <a:alpha val="18000"/>
            </a:srgbClr>
          </a:solidFill>
          <a:ln w="3810">
            <a:solidFill>
              <a:srgbClr val="FFD16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933688" y="294436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700" dirty="0"/>
          </a:p>
        </p:txBody>
      </p:sp>
      <p:sp>
        <p:nvSpPr>
          <p:cNvPr id="115" name="Shape 112"/>
          <p:cNvSpPr/>
          <p:nvPr/>
        </p:nvSpPr>
        <p:spPr>
          <a:xfrm>
            <a:off x="8933688" y="3346704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DB2777">
              <a:alpha val="18000"/>
            </a:srgbClr>
          </a:solidFill>
          <a:ln w="3810">
            <a:solidFill>
              <a:srgbClr val="DB2777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8933688" y="334670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</a:t>
            </a:r>
            <a:endParaRPr lang="en-US" sz="700" dirty="0"/>
          </a:p>
        </p:txBody>
      </p:sp>
      <p:sp>
        <p:nvSpPr>
          <p:cNvPr id="117" name="Shape 114"/>
          <p:cNvSpPr/>
          <p:nvPr/>
        </p:nvSpPr>
        <p:spPr>
          <a:xfrm>
            <a:off x="8933688" y="3749040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7C3AED">
              <a:alpha val="1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8933688" y="3749040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9582912" y="23408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120" name="Shape 117"/>
          <p:cNvSpPr/>
          <p:nvPr/>
        </p:nvSpPr>
        <p:spPr>
          <a:xfrm>
            <a:off x="9592056" y="2542032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FFD166">
              <a:alpha val="18000"/>
            </a:srgbClr>
          </a:solidFill>
          <a:ln w="3810">
            <a:solidFill>
              <a:srgbClr val="FFD166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9592056" y="2542032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700" dirty="0"/>
          </a:p>
        </p:txBody>
      </p:sp>
      <p:sp>
        <p:nvSpPr>
          <p:cNvPr id="122" name="Shape 119"/>
          <p:cNvSpPr/>
          <p:nvPr/>
        </p:nvSpPr>
        <p:spPr>
          <a:xfrm>
            <a:off x="9592056" y="2944368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DB2777">
              <a:alpha val="18000"/>
            </a:srgbClr>
          </a:solidFill>
          <a:ln w="3810">
            <a:solidFill>
              <a:srgbClr val="DB2777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592056" y="294436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</a:t>
            </a:r>
            <a:endParaRPr lang="en-US" sz="700" dirty="0"/>
          </a:p>
        </p:txBody>
      </p:sp>
      <p:sp>
        <p:nvSpPr>
          <p:cNvPr id="124" name="Shape 121"/>
          <p:cNvSpPr/>
          <p:nvPr/>
        </p:nvSpPr>
        <p:spPr>
          <a:xfrm>
            <a:off x="9592056" y="3346704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7C3AED">
              <a:alpha val="1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9592056" y="334670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700" dirty="0"/>
          </a:p>
        </p:txBody>
      </p:sp>
      <p:sp>
        <p:nvSpPr>
          <p:cNvPr id="126" name="Shape 123"/>
          <p:cNvSpPr/>
          <p:nvPr/>
        </p:nvSpPr>
        <p:spPr>
          <a:xfrm>
            <a:off x="9592056" y="3749040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06B6D4">
              <a:alpha val="1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592056" y="3749040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700" dirty="0"/>
          </a:p>
        </p:txBody>
      </p:sp>
      <p:sp>
        <p:nvSpPr>
          <p:cNvPr id="128" name="Text 125"/>
          <p:cNvSpPr/>
          <p:nvPr/>
        </p:nvSpPr>
        <p:spPr>
          <a:xfrm>
            <a:off x="10241280" y="23408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129" name="Shape 126"/>
          <p:cNvSpPr/>
          <p:nvPr/>
        </p:nvSpPr>
        <p:spPr>
          <a:xfrm>
            <a:off x="10250424" y="2542032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DB2777">
              <a:alpha val="18000"/>
            </a:srgbClr>
          </a:solidFill>
          <a:ln w="3810">
            <a:solidFill>
              <a:srgbClr val="DB2777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10250424" y="2542032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</a:t>
            </a:r>
            <a:endParaRPr lang="en-US" sz="700" dirty="0"/>
          </a:p>
        </p:txBody>
      </p:sp>
      <p:sp>
        <p:nvSpPr>
          <p:cNvPr id="131" name="Shape 128"/>
          <p:cNvSpPr/>
          <p:nvPr/>
        </p:nvSpPr>
        <p:spPr>
          <a:xfrm>
            <a:off x="10250424" y="2944368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7C3AED">
              <a:alpha val="1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10250424" y="294436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700" dirty="0"/>
          </a:p>
        </p:txBody>
      </p:sp>
      <p:sp>
        <p:nvSpPr>
          <p:cNvPr id="133" name="Shape 130"/>
          <p:cNvSpPr/>
          <p:nvPr/>
        </p:nvSpPr>
        <p:spPr>
          <a:xfrm>
            <a:off x="10250424" y="3346704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06B6D4">
              <a:alpha val="1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10250424" y="334670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700" dirty="0"/>
          </a:p>
        </p:txBody>
      </p:sp>
      <p:sp>
        <p:nvSpPr>
          <p:cNvPr id="135" name="Shape 132"/>
          <p:cNvSpPr/>
          <p:nvPr/>
        </p:nvSpPr>
        <p:spPr>
          <a:xfrm>
            <a:off x="10250424" y="3749040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FFD166">
              <a:alpha val="18000"/>
            </a:srgbClr>
          </a:solidFill>
          <a:ln w="3810">
            <a:solidFill>
              <a:srgbClr val="FFD166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10250424" y="3749040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10899648" y="2340864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38" name="Shape 135"/>
          <p:cNvSpPr/>
          <p:nvPr/>
        </p:nvSpPr>
        <p:spPr>
          <a:xfrm>
            <a:off x="10908792" y="2542032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7C3AED">
              <a:alpha val="1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10908792" y="2542032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700" dirty="0"/>
          </a:p>
        </p:txBody>
      </p:sp>
      <p:sp>
        <p:nvSpPr>
          <p:cNvPr id="140" name="Shape 137"/>
          <p:cNvSpPr/>
          <p:nvPr/>
        </p:nvSpPr>
        <p:spPr>
          <a:xfrm>
            <a:off x="10908792" y="2944368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06B6D4">
              <a:alpha val="18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0908792" y="294436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700" dirty="0"/>
          </a:p>
        </p:txBody>
      </p:sp>
      <p:sp>
        <p:nvSpPr>
          <p:cNvPr id="142" name="Shape 139"/>
          <p:cNvSpPr/>
          <p:nvPr/>
        </p:nvSpPr>
        <p:spPr>
          <a:xfrm>
            <a:off x="10908792" y="3346704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FFD166">
              <a:alpha val="18000"/>
            </a:srgbClr>
          </a:solidFill>
          <a:ln w="3810">
            <a:solidFill>
              <a:srgbClr val="FFD166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0908792" y="3346704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700" dirty="0"/>
          </a:p>
        </p:txBody>
      </p:sp>
      <p:sp>
        <p:nvSpPr>
          <p:cNvPr id="144" name="Shape 141"/>
          <p:cNvSpPr/>
          <p:nvPr/>
        </p:nvSpPr>
        <p:spPr>
          <a:xfrm>
            <a:off x="10908792" y="3749040"/>
            <a:ext cx="603504" cy="329184"/>
          </a:xfrm>
          <a:prstGeom prst="roundRect">
            <a:avLst>
              <a:gd name="adj" fmla="val 11111"/>
            </a:avLst>
          </a:prstGeom>
          <a:solidFill>
            <a:srgbClr val="DB2777">
              <a:alpha val="18000"/>
            </a:srgbClr>
          </a:solidFill>
          <a:ln w="3810">
            <a:solidFill>
              <a:srgbClr val="DB2777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908792" y="3749040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</a:t>
            </a:r>
            <a:endParaRPr lang="en-US" sz="700" dirty="0"/>
          </a:p>
        </p:txBody>
      </p:sp>
      <p:sp>
        <p:nvSpPr>
          <p:cNvPr id="146" name="Shape 143"/>
          <p:cNvSpPr/>
          <p:nvPr/>
        </p:nvSpPr>
        <p:spPr>
          <a:xfrm>
            <a:off x="8202168" y="4315968"/>
            <a:ext cx="3547872" cy="1444752"/>
          </a:xfrm>
          <a:prstGeom prst="roundRect">
            <a:avLst>
              <a:gd name="adj" fmla="val 5063"/>
            </a:avLst>
          </a:prstGeom>
          <a:solidFill>
            <a:srgbClr val="0F1629"/>
          </a:solidFill>
          <a:ln w="7620">
            <a:solidFill>
              <a:srgbClr val="DB2777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8293608" y="43708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Live Updates</a:t>
            </a:r>
            <a:endParaRPr lang="en-US" sz="900" dirty="0"/>
          </a:p>
        </p:txBody>
      </p:sp>
      <p:sp>
        <p:nvSpPr>
          <p:cNvPr id="148" name="Shape 145"/>
          <p:cNvSpPr/>
          <p:nvPr/>
        </p:nvSpPr>
        <p:spPr>
          <a:xfrm>
            <a:off x="8266176" y="4663440"/>
            <a:ext cx="3401568" cy="274320"/>
          </a:xfrm>
          <a:prstGeom prst="roundRect">
            <a:avLst>
              <a:gd name="adj" fmla="val 16667"/>
            </a:avLst>
          </a:prstGeom>
          <a:solidFill>
            <a:srgbClr val="FFD166">
              <a:alpha val="10000"/>
            </a:srgbClr>
          </a:solidFill>
          <a:ln w="5080">
            <a:solidFill>
              <a:srgbClr val="FFD16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8339328" y="4681728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Room Change  ·  DBMS → 3102 (was 3101)</a:t>
            </a:r>
            <a:endParaRPr lang="en-US" sz="800" dirty="0"/>
          </a:p>
        </p:txBody>
      </p:sp>
      <p:sp>
        <p:nvSpPr>
          <p:cNvPr id="150" name="Shape 147"/>
          <p:cNvSpPr/>
          <p:nvPr/>
        </p:nvSpPr>
        <p:spPr>
          <a:xfrm>
            <a:off x="8266176" y="5010912"/>
            <a:ext cx="3401568" cy="274320"/>
          </a:xfrm>
          <a:prstGeom prst="roundRect">
            <a:avLst>
              <a:gd name="adj" fmla="val 16667"/>
            </a:avLst>
          </a:prstGeom>
          <a:solidFill>
            <a:srgbClr val="DB2777">
              <a:alpha val="10000"/>
            </a:srgbClr>
          </a:solidFill>
          <a:ln w="5080">
            <a:solidFill>
              <a:srgbClr val="DB2777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8339328" y="5029200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Cancellation  ·  Maths lecture cancelled</a:t>
            </a:r>
            <a:endParaRPr lang="en-US" sz="800" dirty="0"/>
          </a:p>
        </p:txBody>
      </p:sp>
      <p:sp>
        <p:nvSpPr>
          <p:cNvPr id="152" name="Shape 149"/>
          <p:cNvSpPr/>
          <p:nvPr/>
        </p:nvSpPr>
        <p:spPr>
          <a:xfrm>
            <a:off x="8266176" y="5358384"/>
            <a:ext cx="3401568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10000"/>
            </a:srgbClr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8339328" y="5376672"/>
            <a:ext cx="3255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Announcement  ·  Seminar at 4PM in Auditorium</a:t>
            </a:r>
            <a:endParaRPr lang="en-US" sz="800" dirty="0"/>
          </a:p>
        </p:txBody>
      </p:sp>
      <p:sp>
        <p:nvSpPr>
          <p:cNvPr id="154" name="Text 151"/>
          <p:cNvSpPr/>
          <p:nvPr/>
        </p:nvSpPr>
        <p:spPr>
          <a:xfrm>
            <a:off x="6784848" y="6071616"/>
            <a:ext cx="5138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3: Admin Portal — Dashboard, Timetable &amp; Live Updates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2026-10-05T18:34:19Z</dcterms:created>
  <dcterms:modified xsi:type="dcterms:W3CDTF">2026-10-05T18:34:19Z</dcterms:modified>
</cp:coreProperties>
</file>